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F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4"/>
  </p:normalViewPr>
  <p:slideViewPr>
    <p:cSldViewPr snapToGrid="0" showGuides="1">
      <p:cViewPr varScale="1">
        <p:scale>
          <a:sx n="96" d="100"/>
          <a:sy n="96" d="100"/>
        </p:scale>
        <p:origin x="132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（浅色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3">
            <a:extLst>
              <a:ext uri="{FF2B5EF4-FFF2-40B4-BE49-F238E27FC236}">
                <a16:creationId xmlns:a16="http://schemas.microsoft.com/office/drawing/2014/main" id="{10C61FE6-A433-47CF-AF72-79BB076C9F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321" y="4037199"/>
            <a:ext cx="8928000" cy="720000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 sz="4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主标题内容文字区域</a:t>
            </a:r>
          </a:p>
        </p:txBody>
      </p:sp>
      <p:sp>
        <p:nvSpPr>
          <p:cNvPr id="12" name="文本占位符 19">
            <a:extLst>
              <a:ext uri="{FF2B5EF4-FFF2-40B4-BE49-F238E27FC236}">
                <a16:creationId xmlns:a16="http://schemas.microsoft.com/office/drawing/2014/main" id="{57343190-8AFD-4C4F-83E7-C7B97C170CF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3321" y="4914899"/>
            <a:ext cx="3600000" cy="324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500"/>
            </a:lvl1pPr>
          </a:lstStyle>
          <a:p>
            <a:pPr lvl="0"/>
            <a:r>
              <a:rPr lang="zh-CN" altLang="en-US" dirty="0"/>
              <a:t>单位：</a:t>
            </a:r>
            <a:endParaRPr lang="en-US" altLang="zh-CN" dirty="0"/>
          </a:p>
        </p:txBody>
      </p:sp>
      <p:sp>
        <p:nvSpPr>
          <p:cNvPr id="13" name="文本占位符 21">
            <a:extLst>
              <a:ext uri="{FF2B5EF4-FFF2-40B4-BE49-F238E27FC236}">
                <a16:creationId xmlns:a16="http://schemas.microsoft.com/office/drawing/2014/main" id="{9DDB8AC1-AF80-49B8-9ED4-8C3F93C3BB0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3321" y="5286375"/>
            <a:ext cx="3600000" cy="2762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500"/>
            </a:lvl1pPr>
          </a:lstStyle>
          <a:p>
            <a:pPr lvl="0"/>
            <a:r>
              <a:rPr lang="zh-CN" altLang="en-US" dirty="0"/>
              <a:t>汇报人：</a:t>
            </a: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21" y="3021525"/>
            <a:ext cx="5539353" cy="670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067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（浅色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7DEEC4-DD0A-4F38-B832-93B4EC389A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200"/>
            </a:lvl1pPr>
          </a:lstStyle>
          <a:p>
            <a:r>
              <a:rPr lang="zh-CN" altLang="en-US" dirty="0"/>
              <a:t>目录</a:t>
            </a: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25653C86-4825-47F9-A882-A52F95348C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1829586"/>
            <a:ext cx="10515600" cy="4359458"/>
          </a:xfrm>
        </p:spPr>
        <p:txBody>
          <a:bodyPr>
            <a:normAutofit/>
          </a:bodyPr>
          <a:lstStyle>
            <a:lvl1pPr marL="457200" indent="-457200">
              <a:buAutoNum type="arabicPeriod"/>
              <a:defRPr sz="2200"/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  <a:p>
            <a:pPr lvl="0"/>
            <a:r>
              <a:rPr lang="zh-CN" altLang="en-US" dirty="0"/>
              <a:t>单击此处添加文本</a:t>
            </a:r>
          </a:p>
        </p:txBody>
      </p:sp>
    </p:spTree>
    <p:extLst>
      <p:ext uri="{BB962C8B-B14F-4D97-AF65-F5344CB8AC3E}">
        <p14:creationId xmlns:p14="http://schemas.microsoft.com/office/powerpoint/2010/main" val="3452350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（浅色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5E0804-E2AC-4BF9-A812-73919677A6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2325" y="294104"/>
            <a:ext cx="8883624" cy="507831"/>
          </a:xfrm>
        </p:spPr>
        <p:txBody>
          <a:bodyPr wrap="square" lIns="102240" tIns="45720" rIns="91440" bIns="45720" anchor="ctr">
            <a:spAutoFit/>
          </a:bodyPr>
          <a:lstStyle>
            <a:lvl1pPr>
              <a:defRPr sz="3000"/>
            </a:lvl1pPr>
          </a:lstStyle>
          <a:p>
            <a:r>
              <a:rPr lang="zh-CN" altLang="en-US" dirty="0"/>
              <a:t>标题文字区域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1F7FAC-5F4F-4CBC-A696-623C238418DD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32324" y="1234081"/>
            <a:ext cx="10841541" cy="435133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zh-CN" altLang="en-US" dirty="0"/>
              <a:t>此处为文字区域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2310" y="294104"/>
            <a:ext cx="1851555" cy="84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812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（浅色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70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970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D7A293A-8E37-4208-B4FA-3A2BB9E93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2D096C7-D3A4-4E38-A510-F976B1FD1C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2395D8-B110-436A-A4B8-B2F8D1E2C8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0E300F0-0892-48D2-9223-FBD060D137BF}" type="datetimeFigureOut">
              <a:rPr lang="zh-CN" altLang="en-US" smtClean="0"/>
              <a:pPr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EC51CC-7CD8-4524-928A-B91086A1A2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FEE23E-BF8D-49FD-A13E-22628F41C2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EDBE4B31-86BE-4417-B8C4-D96246BE2F1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3973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29095C-E3BB-48D4-9B2E-14606C4B4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社区贡献整理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4BBB4E3-73A9-40B0-912F-7C8F66D3666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739C0AC-F640-489C-ACA0-9C4BD62261C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233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8257E7-7732-44EA-8317-72C33307C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余宇峰</a:t>
            </a:r>
            <a:r>
              <a:rPr lang="en-US" altLang="zh-CN" dirty="0"/>
              <a:t>-</a:t>
            </a:r>
            <a:r>
              <a:rPr lang="zh-CN" altLang="en-US" dirty="0"/>
              <a:t>申请</a:t>
            </a:r>
            <a:r>
              <a:rPr lang="en-US" altLang="zh-CN" dirty="0"/>
              <a:t>ANNC</a:t>
            </a:r>
            <a:r>
              <a:rPr lang="zh-CN" altLang="en-US" dirty="0"/>
              <a:t>仓</a:t>
            </a:r>
            <a:r>
              <a:rPr lang="en-US" altLang="zh-CN" dirty="0"/>
              <a:t>Committer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1D9353-DA86-481D-A15F-E6FE508292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3908" y="1035297"/>
            <a:ext cx="7204072" cy="5748159"/>
          </a:xfrm>
        </p:spPr>
        <p:txBody>
          <a:bodyPr>
            <a:normAutofit/>
          </a:bodyPr>
          <a:lstStyle/>
          <a:p>
            <a:r>
              <a:rPr lang="zh-CN" altLang="en-US" sz="1600" dirty="0"/>
              <a:t>要求匹配度</a:t>
            </a: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/>
              <a:t>已作为</a:t>
            </a:r>
            <a:r>
              <a:rPr lang="en-US" altLang="zh-CN" sz="1600" dirty="0"/>
              <a:t>contributor</a:t>
            </a:r>
            <a:r>
              <a:rPr lang="zh-CN" altLang="en-US" sz="1600" dirty="0"/>
              <a:t>参与开发、审核代码</a:t>
            </a:r>
            <a:r>
              <a:rPr lang="en-US" altLang="zh-CN" sz="1600" b="1" dirty="0">
                <a:solidFill>
                  <a:srgbClr val="FF0000"/>
                </a:solidFill>
              </a:rPr>
              <a:t>12</a:t>
            </a:r>
            <a:r>
              <a:rPr lang="zh-CN" altLang="en-US" sz="1600" b="1" dirty="0">
                <a:solidFill>
                  <a:srgbClr val="FF0000"/>
                </a:solidFill>
              </a:rPr>
              <a:t>个月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/>
              <a:t>总计提交并合并</a:t>
            </a:r>
            <a:r>
              <a:rPr lang="en-US" altLang="zh-CN" sz="1600" b="1" dirty="0">
                <a:solidFill>
                  <a:srgbClr val="FF0000"/>
                </a:solidFill>
              </a:rPr>
              <a:t>29</a:t>
            </a:r>
            <a:r>
              <a:rPr lang="zh-CN" altLang="en-US" sz="1600" b="1" dirty="0">
                <a:solidFill>
                  <a:srgbClr val="FF0000"/>
                </a:solidFill>
              </a:rPr>
              <a:t>个</a:t>
            </a:r>
            <a:r>
              <a:rPr lang="en-US" altLang="zh-CN" sz="1600" b="1" dirty="0">
                <a:solidFill>
                  <a:srgbClr val="FF0000"/>
                </a:solidFill>
              </a:rPr>
              <a:t>PR</a:t>
            </a:r>
            <a:r>
              <a:rPr lang="zh-CN" altLang="en-US" sz="1600" dirty="0"/>
              <a:t>到代码库，</a:t>
            </a:r>
            <a:r>
              <a:rPr lang="zh-CN" altLang="en-US" sz="1600" b="1" dirty="0">
                <a:solidFill>
                  <a:srgbClr val="FF0000"/>
                </a:solidFill>
              </a:rPr>
              <a:t>检视总次数</a:t>
            </a:r>
            <a:r>
              <a:rPr lang="en-US" altLang="zh-CN" sz="1600" b="1" dirty="0">
                <a:solidFill>
                  <a:srgbClr val="FF0000"/>
                </a:solidFill>
              </a:rPr>
              <a:t>32</a:t>
            </a:r>
            <a:r>
              <a:rPr lang="zh-CN" altLang="en-US" sz="1600" b="1" dirty="0">
                <a:solidFill>
                  <a:srgbClr val="FF0000"/>
                </a:solidFill>
              </a:rPr>
              <a:t>次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/>
              <a:t>熟悉</a:t>
            </a:r>
            <a:r>
              <a:rPr lang="en-US" altLang="zh-CN" sz="1600" dirty="0"/>
              <a:t>ANNC</a:t>
            </a:r>
            <a:r>
              <a:rPr lang="zh-CN" altLang="en-US" sz="1600" dirty="0"/>
              <a:t>代码库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en-US" altLang="zh-CN" sz="1600" dirty="0"/>
              <a:t>ANNC</a:t>
            </a:r>
            <a:r>
              <a:rPr lang="zh-CN" altLang="en-US" sz="1600" dirty="0"/>
              <a:t>代码贡献</a:t>
            </a: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/>
              <a:t>框架转化：通过图解析、计算流提取、转化、</a:t>
            </a:r>
            <a:r>
              <a:rPr lang="en-US" altLang="zh-CN" sz="1600" dirty="0"/>
              <a:t>shape/rank</a:t>
            </a:r>
            <a:r>
              <a:rPr lang="zh-CN" altLang="en-US" sz="1600" dirty="0"/>
              <a:t>推导、图正则化、回写重构前端框架</a:t>
            </a:r>
            <a:r>
              <a:rPr lang="en-US" altLang="zh-CN" sz="1600" dirty="0" err="1"/>
              <a:t>ir</a:t>
            </a:r>
            <a:r>
              <a:rPr lang="zh-CN" altLang="en-US" sz="1600" dirty="0"/>
              <a:t>转化</a:t>
            </a: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 err="1"/>
              <a:t>OnnxRuntime</a:t>
            </a:r>
            <a:r>
              <a:rPr lang="zh-CN" altLang="en-US" sz="1600" dirty="0"/>
              <a:t>支持：通过</a:t>
            </a:r>
            <a:r>
              <a:rPr lang="en-US" altLang="zh-CN" sz="1600" dirty="0"/>
              <a:t>EP</a:t>
            </a:r>
            <a:r>
              <a:rPr lang="zh-CN" altLang="en-US" sz="1600" dirty="0"/>
              <a:t>机制将</a:t>
            </a:r>
            <a:r>
              <a:rPr lang="en-US" altLang="zh-CN" sz="1600" dirty="0"/>
              <a:t>ANNC</a:t>
            </a:r>
            <a:r>
              <a:rPr lang="zh-CN" altLang="en-US" sz="1600" dirty="0"/>
              <a:t>算子优化注入到</a:t>
            </a:r>
            <a:r>
              <a:rPr lang="en-US" altLang="zh-CN" sz="1600" dirty="0" err="1"/>
              <a:t>OnnxRuntime</a:t>
            </a:r>
            <a:r>
              <a:rPr lang="zh-CN" altLang="en-US" sz="1600" dirty="0"/>
              <a:t>，实现框架零侵入优化；支持</a:t>
            </a:r>
            <a:r>
              <a:rPr lang="en-US" altLang="zh-CN" sz="1600" dirty="0"/>
              <a:t>ANNC</a:t>
            </a:r>
            <a:r>
              <a:rPr lang="zh-CN" altLang="en-US" sz="1600" dirty="0"/>
              <a:t>使用</a:t>
            </a:r>
            <a:r>
              <a:rPr lang="en-US" altLang="zh-CN" sz="1600" dirty="0" err="1"/>
              <a:t>OnnxRuntime</a:t>
            </a:r>
            <a:r>
              <a:rPr lang="zh-CN" altLang="en-US" sz="1600" dirty="0"/>
              <a:t>的上下文进行算子生成</a:t>
            </a: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/>
              <a:t>自定义</a:t>
            </a:r>
            <a:r>
              <a:rPr lang="en-US" altLang="zh-CN" sz="1600" dirty="0"/>
              <a:t>pattern</a:t>
            </a:r>
            <a:r>
              <a:rPr lang="zh-CN" altLang="en-US" sz="1600" dirty="0"/>
              <a:t>架构：支持自定义子图模式匹配</a:t>
            </a: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/>
              <a:t>融合算子生成优化：识别推理模型图中可优化子图，进一步实现自定义算子优化，在典型</a:t>
            </a:r>
            <a:r>
              <a:rPr lang="en-US" altLang="zh-CN" sz="1600" dirty="0"/>
              <a:t>workload</a:t>
            </a:r>
            <a:r>
              <a:rPr lang="zh-CN" altLang="en-US" sz="1600" dirty="0"/>
              <a:t>性能提升</a:t>
            </a:r>
            <a:r>
              <a:rPr lang="en-US" altLang="zh-CN" sz="1600" dirty="0"/>
              <a:t>10%</a:t>
            </a:r>
          </a:p>
          <a:p>
            <a:endParaRPr lang="en-US" altLang="zh-CN" sz="1600" dirty="0"/>
          </a:p>
          <a:p>
            <a:r>
              <a:rPr lang="en-US" altLang="zh-CN" sz="1600" dirty="0"/>
              <a:t>ANNC</a:t>
            </a:r>
            <a:r>
              <a:rPr lang="zh-CN" altLang="en-US" sz="1600" dirty="0"/>
              <a:t>仓维护</a:t>
            </a: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/>
              <a:t>ANNC bugfix</a:t>
            </a:r>
            <a:r>
              <a:rPr lang="zh-CN" altLang="en-US" sz="1600" dirty="0"/>
              <a:t>、代码检视、设计方案评审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8357F11-B8B0-FCEA-45D1-572225C17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7492" y="1318428"/>
            <a:ext cx="4153017" cy="5071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507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4574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</TotalTime>
  <Words>239</Words>
  <Application>Microsoft Office PowerPoint</Application>
  <PresentationFormat>宽屏</PresentationFormat>
  <Paragraphs>15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Microsoft YaHei</vt:lpstr>
      <vt:lpstr>Microsoft YaHei</vt:lpstr>
      <vt:lpstr>Arial</vt:lpstr>
      <vt:lpstr>Office 主题​​</vt:lpstr>
      <vt:lpstr>社区贡献整理</vt:lpstr>
      <vt:lpstr>余宇峰-申请ANNC仓Committer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yijinjing</dc:creator>
  <cp:lastModifiedBy>gyufengyu@gmail.com</cp:lastModifiedBy>
  <cp:revision>22</cp:revision>
  <dcterms:created xsi:type="dcterms:W3CDTF">2021-09-22T17:27:27Z</dcterms:created>
  <dcterms:modified xsi:type="dcterms:W3CDTF">2026-10-20T03:28:31Z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(3)VUCzVHZ4SrjRDrR6GYfJoWnW+Gd44j2qONpGB+NFtjI0aFk/fpX2sxPh164kkm5oI5sxN5sW
1wvjkLtdnpa05F7BekZpZSeuCuPNyjf/ZynlM9NJincvz5kQVs4ABiHnkaBzGK6gXbX7RKJF
PAmIrgAI+fOplNDKYujycT5SmhSQ2WQyK3r3W8b7WsIs5vYG1pM6ltO118WVidFhWepailLb
3cuBNosCJoafVPJNrB</vt:lpwstr>
  </property>
  <property fmtid="{D5CDD505-2E9C-101B-9397-08002B2CF9AE}" pid="3" name="_2015_ms_pID_7253431">
    <vt:lpwstr>CVisj3CgW3f2fu4rH2SBzu/OnY111TbJVhcFEXQ6YEktC1ZczkrGlR
gSwWFvR6uqQCAVdOL30uc401juYpUaflicBId9dkaCT4ulEu7Os4mYlZuoaraNbI53gWrse8
rlzf2Scb55tCc0WObkZjFXnoDzoaOU+qbhGKKkCMJZeHzMYlgGkVndHPvXxUYIDBe/QIbJNV
BGvRIMW69NqcY0DAeb74BZSK7JvWz9HNVqxl</vt:lpwstr>
  </property>
  <property fmtid="{D5CDD505-2E9C-101B-9397-08002B2CF9AE}" pid="4" name="_2015_ms_pID_7253432">
    <vt:lpwstr>9g==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1646357180</vt:lpwstr>
  </property>
</Properties>
</file>